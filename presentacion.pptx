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BRECHA DIGITAL Y RESULTADOS SABER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</a:rPr>
              <a:t>Pipeline distribuido sobre Apache Hadoop + Spark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555555"/>
                </a:solidFill>
              </a:rPr>
              <a:t>Proyecto de Investigación — Entrega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4E79"/>
                </a:solidFill>
              </a:rPr>
              <a:t>Grupo: REST pAPIs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</a:rPr>
              <a:t>Juan Camilo Carvajal · Juan Pablo Cañón · Juan David Rincón · Tatiana Vivas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</a:rPr>
              <a:t>Procesamiento de Datos a Gran Escala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Pontificia Universidad Javeriana · Facultad de Ingeniería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</a:rPr>
              <a:t>Mayo 2026 · Prof. Fabián Pallares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F4E79"/>
                </a:solidFill>
              </a:rPr>
              <a:t xml:space="preserve">•  </a:t>
            </a:r>
            <a:r>
              <a:rPr sz="2200">
                <a:solidFill>
                  <a:srgbClr val="555555"/>
                </a:solidFill>
              </a:rPr>
              <a:t>Contexto del negocio y problema a resolver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F4E79"/>
                </a:solidFill>
              </a:rPr>
              <a:t xml:space="preserve">•  </a:t>
            </a:r>
            <a:r>
              <a:rPr sz="2200">
                <a:solidFill>
                  <a:srgbClr val="555555"/>
                </a:solidFill>
              </a:rPr>
              <a:t>Datos: ICFES, MinTIC, Sisbén, MEN — descripción y exploración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F4E79"/>
                </a:solidFill>
              </a:rPr>
              <a:t xml:space="preserve">•  </a:t>
            </a:r>
            <a:r>
              <a:rPr sz="2200">
                <a:solidFill>
                  <a:srgbClr val="555555"/>
                </a:solidFill>
              </a:rPr>
              <a:t>Infraestructura del cluster Hadoop + Spark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F4E79"/>
                </a:solidFill>
              </a:rPr>
              <a:t xml:space="preserve">•  </a:t>
            </a:r>
            <a:r>
              <a:rPr sz="2200">
                <a:solidFill>
                  <a:srgbClr val="555555"/>
                </a:solidFill>
              </a:rPr>
              <a:t>Arquitectura medallion Bronze → Silver → Gold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F4E79"/>
                </a:solidFill>
              </a:rPr>
              <a:t xml:space="preserve">•  </a:t>
            </a:r>
            <a:r>
              <a:rPr sz="2200">
                <a:solidFill>
                  <a:srgbClr val="555555"/>
                </a:solidFill>
              </a:rPr>
              <a:t>Hallazgos clave del análisis exploratorio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F4E79"/>
                </a:solidFill>
              </a:rPr>
              <a:t xml:space="preserve">•  </a:t>
            </a:r>
            <a:r>
              <a:rPr sz="2200">
                <a:solidFill>
                  <a:srgbClr val="555555"/>
                </a:solidFill>
              </a:rPr>
              <a:t>Modelos supervisados y no supervisado con MLlib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F4E79"/>
                </a:solidFill>
              </a:rPr>
              <a:t xml:space="preserve">•  </a:t>
            </a:r>
            <a:r>
              <a:rPr sz="2200">
                <a:solidFill>
                  <a:srgbClr val="555555"/>
                </a:solidFill>
              </a:rPr>
              <a:t>Bono: Red Neuronal MLP a nivel estudiante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F4E79"/>
                </a:solidFill>
              </a:rPr>
              <a:t xml:space="preserve">•  </a:t>
            </a:r>
            <a:r>
              <a:rPr sz="2200">
                <a:solidFill>
                  <a:srgbClr val="555555"/>
                </a:solidFill>
              </a:rPr>
              <a:t>Recomendaciones de política pública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El problema de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Somos consultores del Ministerio de Educación Nacional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2E75B6"/>
                </a:solidFill>
              </a:rPr>
              <a:t>¿Por qué importa?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4E79"/>
                </a:solidFill>
              </a:rPr>
              <a:t xml:space="preserve">•  </a:t>
            </a:r>
            <a:r>
              <a:rPr sz="1600">
                <a:solidFill>
                  <a:srgbClr val="555555"/>
                </a:solidFill>
              </a:rPr>
              <a:t>La diferencia de puntaje Saber 11 entre departamentos llega a 60 puntos.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4E79"/>
                </a:solidFill>
              </a:rPr>
              <a:t xml:space="preserve">•  </a:t>
            </a:r>
            <a:r>
              <a:rPr sz="1600">
                <a:solidFill>
                  <a:srgbClr val="555555"/>
                </a:solidFill>
              </a:rPr>
              <a:t>Brecha urbano-rural promedio: ~26 puntos.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4E79"/>
                </a:solidFill>
              </a:rPr>
              <a:t xml:space="preserve">•  </a:t>
            </a:r>
            <a:r>
              <a:rPr sz="1600">
                <a:solidFill>
                  <a:srgbClr val="555555"/>
                </a:solidFill>
              </a:rPr>
              <a:t>Inversión en conectividad ha crecido, pero el impacto académico es heterogéneo.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2E75B6"/>
                </a:solidFill>
              </a:rPr>
              <a:t>Pregunta central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1">
                <a:solidFill>
                  <a:srgbClr val="555555"/>
                </a:solidFill>
              </a:rPr>
              <a:t>¿Qué tanto del rendimiento Saber 11 se explica por la brecha digital,</a:t>
            </a:r>
          </a:p>
          <a:p>
            <a:r>
              <a:t>controlando por pobreza, cobertura educativa y geografía?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05500"/>
                </a:solidFill>
              </a:rPr>
              <a:t>Producto esperado: evidencia cuantitativa + modelos + recomendaciones focalizadas.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Datos utilizados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Cuatro fuentes oficiales del Estado colombiano (datos.gov.co)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Fuente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Filas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Tamaño CSV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Grano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ICFES Saber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ICFES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7,109,704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3.5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Estudiante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Internet Fijo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MinTIC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2,795,052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384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Mpio × Año × Trimestre × Proveedor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Sisbén Personas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DNP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4,465,955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937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Persona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MEN Educación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MinEducación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15,707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5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Municipio × Año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</a:rPr>
              <a:t>14.4 millones de registros · joins por código DANE de municipio · cobertura 2011-2024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05500"/>
                </a:solidFill>
              </a:rPr>
              <a:t>14.4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897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registros integrados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029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05500"/>
                </a:solidFill>
              </a:rPr>
              <a:t>4.8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5897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datos crudos procesados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5029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05500"/>
                </a:solidFill>
              </a:rPr>
              <a:t>1,098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5897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municipios cubiertos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Dataset 1: ICFES Saber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La variable objetivo del proyecto · 7.1M estudiantes · 51 columnas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640080"/>
          </a:xfrm>
          <a:prstGeom prst="rect">
            <a:avLst/>
          </a:prstGeom>
          <a:solidFill>
            <a:srgbClr val="E8E8E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F4E79"/>
                </a:solidFill>
              </a:rPr>
              <a:t>ICFES — Resultados únicos Saber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27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55555"/>
                </a:solidFill>
              </a:rPr>
              <a:t>Fuente: ICFES (datos.gov.co)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6276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55555"/>
                </a:solidFill>
              </a:rPr>
              <a:t>7,109,704 filas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6276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55555"/>
                </a:solidFill>
              </a:rPr>
              <a:t>3.5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Atributos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PUNT_GLOBAL: puntaje global (0-500, variable objetivo)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PUNT_LECTURA, MATEMATICAS, NATURALES, SOCIALES, INGLES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FAMI_TIENEINTERNET, FAMI_TIENECOMPUTADOR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FAMI_ESTRATOVIVIENDA (1-6)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COLE_AREA_UBICACION (Urbano/Rural)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COLE_DEPTO/MCPIO_UBICACION + códigos DANE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PERIODO (formato YYYYS)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Cobertura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Periodo: 2013 — 2024 (24 semestres)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Cubre todos los departamentos del país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Mezcla colegios oficiales, no oficiales y bilingües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Información socioeconómica del hogar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Información del colegio y la jornada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Información geográfica completa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ICFES: distribución del puntaje global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Lo primero que miramos: la forma de la variable objetivo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fes_hist_punt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858000" cy="3857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</a:rPr>
              <a:t>Observaciones clave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0116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Distribución aprox. normal centrada en 250 pts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Desviación amplia, rango 0–500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Concentración anómala en cero: registros no presentados (~2.6M)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La cola superior corresponde a estudiantes de alto rendimiento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51206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1">
                <a:solidFill>
                  <a:srgbClr val="C05500"/>
                </a:solidFill>
              </a:rPr>
              <a:t>Decisión: descartar registros con PUNT_GLOBAL nulo o ≤ 0 (~37% de las filas).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ICFES: la geografía cuenta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Puntaje promedio por departamento (top 20, mínimo 1,000 estudiantes)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fes_depto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315200" cy="4876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5544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</a:rPr>
              <a:t>Patrón territorial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01168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Bogotá, Santander, Boyacá y Antioquia lideran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Departamentos de frontera y rurales en la cola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Diferencia entre extremos: &gt;30 puntos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Brecha estructural enorme en escala Saber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502920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1">
                <a:solidFill>
                  <a:srgbClr val="C05500"/>
                </a:solidFill>
              </a:rPr>
              <a:t>Esta heterogeneidad justifica el análisis por municipio (no nacional).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ICFES: internet en el hogar × zona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Primera intuición de la pregunta central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fes_internet_zo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858000" cy="428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</a:rPr>
              <a:t>Hallazgo preliminar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0116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En URBANO y RURAL: con internet &gt; sin internet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Brecha urbana ~ 13 puntos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Brecha rural similar en magnitud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'SIN INFORMACION' se comporta como 'sin internet'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51206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55555"/>
                </a:solidFill>
              </a:rPr>
              <a:t>Esto motiva la binarización TIENE_INTERNET_BIN y la categoría explícita 'SIN INFORMACION'.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Dataset 2: Internet Fijo (MinTIC)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Conectividad por municipio · 2.8M registros · 12 columnas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640080"/>
          </a:xfrm>
          <a:prstGeom prst="rect">
            <a:avLst/>
          </a:prstGeom>
          <a:solidFill>
            <a:srgbClr val="E8E8E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F4E79"/>
                </a:solidFill>
              </a:rPr>
              <a:t>MinTIC — Internet Fijo: accesos por tecnología y segmento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27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55555"/>
                </a:solidFill>
              </a:rPr>
              <a:t>Fuente: MinTIC (datos.gov.co)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6276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55555"/>
                </a:solidFill>
              </a:rPr>
              <a:t>2,795,052 filas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6276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55555"/>
                </a:solidFill>
              </a:rPr>
              <a:t>384 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Atributos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AÑO, TRIMESTRE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COD_DEPARTAMENTO, COD_MUNICIPIO (códigos DANE)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PROVEEDOR (ISP)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SEGMENTO (residencial / corporativo / otro)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TECNOLOGIA (FTTH, HFC, XDSL, etc.)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VELOCIDAD_BAJADA, VELOCIDAD_SUBIDA (Mbps)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NUM_ACCESOS (conteo de accesos)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Particularidades técnicas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Coma decimal en velocidades (locale es-CO): '8,00'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Carácter Ñ en 'AÑO' rompe selects en Spark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Espacio en 'No DE ACCESOS' (renombrado)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82 K grupos de duplicados exactos detectados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Grano fino: 1 fila por (mpio, trim, prov, tec)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Internet Fijo: evolución 2014–2024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Masificación sostenida con aceleración pos-pandemia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ternet_evolucion_an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772400" cy="4371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5B6"/>
                </a:solidFill>
              </a:rPr>
              <a:t>Patrones observados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0116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Crecimiento sostenido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Salto 2020-2021 (COVID-19)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Reporte parcial en 2014-2015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Saturación incipiente en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Internet Fijo: distribución por tecnología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Coexistencia de infraestructura tradicional y fibra óptica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ternet_top_tecnolog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772400" cy="4371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5B6"/>
                </a:solidFill>
              </a:rPr>
              <a:t>Lectura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FTTH (fibra) creciendo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HFC y Cable dominantes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XDSL en declive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Justifica usar VELOCIDAD como feature: no todas las tecnologías son iguales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Dataset 3: Sisbén Personas (DNP)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Contexto socioeconómico · 4.5M personas · 48 columnas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640080"/>
          </a:xfrm>
          <a:prstGeom prst="rect">
            <a:avLst/>
          </a:prstGeom>
          <a:solidFill>
            <a:srgbClr val="E8E8E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F4E79"/>
                </a:solidFill>
              </a:rPr>
              <a:t>DNP — Sisbén Personas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27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55555"/>
                </a:solidFill>
              </a:rPr>
              <a:t>Fuente: DNP (datos.gov.co)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6276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55555"/>
                </a:solidFill>
              </a:rPr>
              <a:t>4,465,955 filas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6276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55555"/>
                </a:solidFill>
              </a:rPr>
              <a:t>937 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Atributos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cod_mpio (código DANE)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Grupo: A (más vulnerable) → D (menos)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Nivel + Clasificación (e.g. B2, C3)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ZONA (1=urbana, 2=rural)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FEX (factor de expansión)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I1..I15: 15 indicadores binarios de privación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Persona-Hogar identificadores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Decisión clave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Grano fino: persona individual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Para joins necesita AGREGACIÓN a municipio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4.5M personas → 1,099 municipios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Métricas derivadas: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 xml:space="preserve">   - idx_privacion = Σ avg(I1..I15)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 xml:space="preserve">   - pct_grupo_A, pct_grupo_B, etc.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 xml:space="preserve">   - pct_rural, n_personas, n_hogares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Sisbén: distribución por grupos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Promedio por municipio de personas en cada grupo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isben_distribucion_gru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400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</a:rPr>
              <a:t>Concentración en vulnerabilidad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0116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Grupo A (más vulnerable): casi 50% en promedio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Grupo B: ~30%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Grupo C: ~16%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Grupo D (menos vulnerable): ~5%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9377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55555"/>
                </a:solidFill>
              </a:rPr>
              <a:t>El Sisbén focaliza su registro en la población objetivo de programas sociales.</a:t>
            </a:r>
          </a:p>
          <a:p>
            <a:r>
              <a:t>Esto debe considerarse al comparar municipios.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Sisbén × ICFES: privación vs Saber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Primer cruce multi-fuente · 1 punto = 1 municipio-año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isben_priv_vs_p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772400" cy="4857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5B6"/>
                </a:solidFill>
              </a:rPr>
              <a:t>Hallazgos visuales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01168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Pendiente claramente negativa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Color rojo (rural) en la zona pobre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Color verde (urbano) en la zona próspera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Geografía, pobreza y rendimiento se mueven juntos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Dataset 4: MEN Educación Municipal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Indicadores estructurales del sistema educativo · 15.7K filas · 41 columnas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640080"/>
          </a:xfrm>
          <a:prstGeom prst="rect">
            <a:avLst/>
          </a:prstGeom>
          <a:solidFill>
            <a:srgbClr val="E8E8E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F4E79"/>
                </a:solidFill>
              </a:rPr>
              <a:t>MEN — Estadísticas en educación preescolar, básica y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27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55555"/>
                </a:solidFill>
              </a:rPr>
              <a:t>Fuente: MinEducación (datos.gov.co)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6276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55555"/>
                </a:solidFill>
              </a:rPr>
              <a:t>15,707 filas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6276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55555"/>
                </a:solidFill>
              </a:rPr>
              <a:t>5 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Atributos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AÑO, CÓDIGO_MUNICIPIO, CÓDIGO_DEPARTAMENTO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POBLACIÓN_5_16 (universo escolar)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COBERTURA_NETA (total y por nivel)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COBERTURA_BRUTA (total y por nivel)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TASA_MATRICULACIÓN_5_16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DESERCIÓN, APROBACIÓN, REPROBACIÓN, REPITENCIA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SEDES_CONECTADAS_A_INTERNET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Particularidades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Grano: municipio × año (panel temporal)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Cobertura: 2011 — 2024 (14 vigencias)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1,124 municipios cubiertos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Acentos en nombres de columna (requiere slugify)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Porcentajes como texto: '56.11%' (requiere parsing)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 xml:space="preserve">•  </a:t>
            </a:r>
            <a:r>
              <a:rPr sz="1300">
                <a:solidFill>
                  <a:srgbClr val="555555"/>
                </a:solidFill>
              </a:rPr>
              <a:t>Dos archivos byte-idénticos (verificado MD5)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MEN: evolución de la cobertura neta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Brecha estructural entre niveles educativos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en_evolucion_cober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7724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5B6"/>
                </a:solidFill>
              </a:rPr>
              <a:t>Brecha por nivel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Primaria: 70–80%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Secundaria: 60–70%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Media: solo 40–45%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El sistema pierde estudiantes en el tránsito a secundaria y media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Infraestructura del cluster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Cluster propio Hadoop + Spark, no Databricks ni 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 xml:space="preserve">•  </a:t>
            </a:r>
            <a:r>
              <a:rPr sz="1500">
                <a:solidFill>
                  <a:srgbClr val="555555"/>
                </a:solidFill>
              </a:rPr>
              <a:t>1 NameNode + 3 Workers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 xml:space="preserve">•  </a:t>
            </a:r>
            <a:r>
              <a:rPr sz="1500">
                <a:solidFill>
                  <a:srgbClr val="555555"/>
                </a:solidFill>
              </a:rPr>
              <a:t>16 cores totales (4 por worker)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 xml:space="preserve">•  </a:t>
            </a:r>
            <a:r>
              <a:rPr sz="1500">
                <a:solidFill>
                  <a:srgbClr val="555555"/>
                </a:solidFill>
              </a:rPr>
              <a:t>42 GB RAM total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 xml:space="preserve">•  </a:t>
            </a:r>
            <a:r>
              <a:rPr sz="1500">
                <a:solidFill>
                  <a:srgbClr val="555555"/>
                </a:solidFill>
              </a:rPr>
              <a:t>Rocky Linux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 xml:space="preserve">•  </a:t>
            </a:r>
            <a:r>
              <a:rPr sz="1500">
                <a:solidFill>
                  <a:srgbClr val="555555"/>
                </a:solidFill>
              </a:rPr>
              <a:t>Hadoop 3.3.6 (HDFS, replicación 3)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 xml:space="preserve">•  </a:t>
            </a:r>
            <a:r>
              <a:rPr sz="1500">
                <a:solidFill>
                  <a:srgbClr val="555555"/>
                </a:solidFill>
              </a:rPr>
              <a:t>Spark 3.5.2 standalone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 xml:space="preserve">•  </a:t>
            </a:r>
            <a:r>
              <a:rPr sz="1500">
                <a:solidFill>
                  <a:srgbClr val="555555"/>
                </a:solidFill>
              </a:rPr>
              <a:t>PySpark 3.5.2 + JupyterLab 4.5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 xml:space="preserve">•  </a:t>
            </a:r>
            <a:r>
              <a:rPr sz="1500">
                <a:solidFill>
                  <a:srgbClr val="555555"/>
                </a:solidFill>
              </a:rPr>
              <a:t>Spark MLlib para todos los modelos</a:t>
            </a:r>
          </a:p>
        </p:txBody>
      </p:sp>
      <p:pic>
        <p:nvPicPr>
          <p:cNvPr id="9" name="Picture 8" descr="spark_maste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486400" cy="34299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6035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Spark Master UI (puerto 8080)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Evidencia: HDFS NameNode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Sistema de archivos distribuido con replicación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dfs_data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5760720" cy="36014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8521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Pestaña Datanodes: los 3 workers vivos</a:t>
            </a:r>
          </a:p>
        </p:txBody>
      </p:sp>
      <p:pic>
        <p:nvPicPr>
          <p:cNvPr id="7" name="Picture 6" descr="hdfs_brow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760720" cy="36014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8521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Browse /usr/proyecto/ — estructura medallion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5500"/>
                </a:solidFill>
              </a:rPr>
              <a:t>44.8 GB de capacidad total · 15.8 GB usados · replicación factor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Evidencia: Spark Application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Ejecución distribuida sobre 4 workers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park_j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3840480" cy="24009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303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Jobs</a:t>
            </a:r>
          </a:p>
        </p:txBody>
      </p:sp>
      <p:pic>
        <p:nvPicPr>
          <p:cNvPr id="7" name="Picture 6" descr="spark_st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554480"/>
            <a:ext cx="3840480" cy="24009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51960" y="5303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Stages paralelos</a:t>
            </a:r>
          </a:p>
        </p:txBody>
      </p:sp>
      <p:pic>
        <p:nvPicPr>
          <p:cNvPr id="9" name="Picture 8" descr="spark_execut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554480"/>
            <a:ext cx="3840480" cy="24009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0" y="5303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Executors (workers reales)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</a:rPr>
              <a:t>Cada job se descompone en stages paralelos asignados a los executors del cluster.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Pipeline Bronze → Silver → Gold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Arquitectura medallion en HDFS · una sola vista minable alimenta los modelos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Capa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Qué contiene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Tamaño en HDFS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Bronze (CSV)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Datos crudos descargados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4.7 GB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Bronze Parquet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Misma data, columnar + snappy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386 MB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Silver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Limpia, tipada, geo normalizado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113 MB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Gold 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Joins (mpio × año) = vista minable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1.5 MB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4 modelos persistidos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2 MB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Compresión obtenida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1945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C704A"/>
                </a:solidFill>
              </a:rPr>
              <a:t>12×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063239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CSV → Parquet snappy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023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05500"/>
                </a:solidFill>
              </a:rPr>
              <a:t>7,004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920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filas vista minable</a:t>
            </a:r>
          </a:p>
          <a:p>
            <a:r>
              <a:t>(municipio × año)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</a:rPr>
              <a:t>Una sola tabla unificada (44 columnas) alimenta EDA y los 4 modelos de ML.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Hallazgo 1: La conectividad sí pesa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Pero menos de lo que se suele asumir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1_internet_vs_punta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40080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6459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E75B6"/>
                </a:solidFill>
              </a:rPr>
              <a:t>r = +0.41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5146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correlación municipal</a:t>
            </a:r>
          </a:p>
          <a:p>
            <a:r>
              <a:t>internet ↔ puntaje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36576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05500"/>
                </a:solidFill>
              </a:rPr>
              <a:t>+22 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5262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diferencia entre municipios con</a:t>
            </a:r>
          </a:p>
          <a:p>
            <a:r>
              <a:t>ALTA vs BAJA penetración de internet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6692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</a:rPr>
              <a:t>Saber 11 ≈ 250 (cuartil 4 internet)</a:t>
            </a:r>
          </a:p>
          <a:p>
            <a:r>
              <a:t>Saber 11 ≈ 228 (cuartil 1 internet)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Hallazgo 2: La pobreza incide incluso controlando por internet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Análisis estratificado por cuartil de conectividad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</a:rPr>
              <a:t>Correlación (privación, puntaje) DENTRO de cada cuartil de internet: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103120"/>
          <a:ext cx="10058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Cuartil internet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N° mpio-año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Corr (privación, puntaje)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Puntaje promedio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Q1 (bajo)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1,661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−0.461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234.1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1,702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−0.510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237.2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1,745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−0.521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239.2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Q4 (alto)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1,805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−0.404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252.2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Sin controlar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6,913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−0.520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05500"/>
                </a:solidFill>
              </a:rPr>
              <a:t>Conclusión: invertir solo en conectividad NO es suficiente.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</a:rPr>
              <a:t>La política debe combinar acceso digital + intervención socioeconómica.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Hallazgo 3: El computador en casa eleva TODAS las áreas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Nivel estudiante (4.5M registros del Silver ICFES)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7_computador_por_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85800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E75B6"/>
                </a:solidFill>
              </a:rPr>
              <a:t>Diferencia con vs sin computador: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19456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 xml:space="preserve">•  </a:t>
            </a:r>
            <a:r>
              <a:rPr sz="1500">
                <a:solidFill>
                  <a:srgbClr val="555555"/>
                </a:solidFill>
              </a:rPr>
              <a:t>Inglés: +8.3 pts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 xml:space="preserve">•  </a:t>
            </a:r>
            <a:r>
              <a:rPr sz="1500">
                <a:solidFill>
                  <a:srgbClr val="555555"/>
                </a:solidFill>
              </a:rPr>
              <a:t>Matemáticas: +6.5 pts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 xml:space="preserve">•  </a:t>
            </a:r>
            <a:r>
              <a:rPr sz="1500">
                <a:solidFill>
                  <a:srgbClr val="555555"/>
                </a:solidFill>
              </a:rPr>
              <a:t>Sociales: +6.4 pts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 xml:space="preserve">•  </a:t>
            </a:r>
            <a:r>
              <a:rPr sz="1500">
                <a:solidFill>
                  <a:srgbClr val="555555"/>
                </a:solidFill>
              </a:rPr>
              <a:t>Naturales: +5.9 pts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 xml:space="preserve">•  </a:t>
            </a:r>
            <a:r>
              <a:rPr sz="1500">
                <a:solidFill>
                  <a:srgbClr val="555555"/>
                </a:solidFill>
              </a:rPr>
              <a:t>Lectura: +5.7 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512064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55555"/>
                </a:solidFill>
              </a:rPr>
              <a:t>El efecto más fuerte está en Inglés:</a:t>
            </a:r>
          </a:p>
          <a:p>
            <a:r>
              <a:t>área que requiere práctica autónoma</a:t>
            </a:r>
          </a:p>
          <a:p>
            <a:r>
              <a:t>con recursos digitales especializados.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Hallazgo 4: Municipios anómalos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Alta conectividad pero bajo rendimiento académico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0550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municipios anómalos</a:t>
            </a:r>
          </a:p>
          <a:p>
            <a:r>
              <a:t>detectados (año 2022)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645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E75B6"/>
                </a:solidFill>
              </a:rPr>
              <a:t>5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514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concentrados en Antioquia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645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05500"/>
                </a:solidFill>
              </a:rPr>
              <a:t>5.1 %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514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deserción promedio</a:t>
            </a:r>
          </a:p>
          <a:p>
            <a:r>
              <a:t>(vs 4.1 % del resto)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Criterio de detección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 xml:space="preserve">•  </a:t>
            </a:r>
            <a:r>
              <a:rPr sz="1500">
                <a:solidFill>
                  <a:srgbClr val="555555"/>
                </a:solidFill>
              </a:rPr>
              <a:t>Conectividad ≥ percentil 75 (&gt; 62.4 % de hogares con internet)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 xml:space="preserve">•  </a:t>
            </a:r>
            <a:r>
              <a:rPr sz="1500">
                <a:solidFill>
                  <a:srgbClr val="555555"/>
                </a:solidFill>
              </a:rPr>
              <a:t>Puntaje Saber 11 ≤ percentil 25 (&lt; 223.9 puntos)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 xml:space="preserve">•  </a:t>
            </a:r>
            <a:r>
              <a:rPr sz="1500">
                <a:solidFill>
                  <a:srgbClr val="555555"/>
                </a:solidFill>
              </a:rPr>
              <a:t>Patrón: deserción superior + privación alta → infraestructura por sí sola no basta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C05500"/>
                </a:solidFill>
              </a:rPr>
              <a:t>Estos 10 municipios son target prioritario para análisis cualitativo posterior.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Modelos supervisados: Regresión Lineal vs Decision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Predicción del puntaje promedio municipal · 27 combinaciones de hiperparámetros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7772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TRAIN R²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R²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MAE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Regresión Lineal (default)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0.4169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0.4067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12.31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16.28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Decision Tree (default)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0.6709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0.5004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11.21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14.94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LR mejor del 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0.4070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16.27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DT mejor del grid (ganador)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0.5857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0.5214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14.62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5B6"/>
                </a:solidFill>
              </a:rPr>
              <a:t>Importancia de variables (DT ganador)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19456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idx_privacion: 48.3 %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pct_internet_icfes: 23.3 %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pct_rural_sisben: 6.3 %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resto &lt; 5 % cada una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</a:rPr>
              <a:t>Decision Tree gana por capturar interacciones no lineales.</a:t>
            </a:r>
          </a:p>
          <a:p>
            <a:r>
              <a:t>Privación + Conectividad explican el 72 % de la importancia total.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5500"/>
                </a:solidFill>
              </a:rPr>
              <a:t>Ambos modelos persistidos en /usr/proyecto/models/  ·  recargables con .load()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K-Means: selección del número de clusters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Método del codo (WCSS) + coeficiente de silueta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means_eleccion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772400" cy="2590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</a:rPr>
              <a:t>Lectura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Silueta máx en k=2 (0.449)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WCSS sin codo marcado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k=2 es la elección consistente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 xml:space="preserve">•  </a:t>
            </a:r>
            <a:r>
              <a:rPr sz="1200">
                <a:solidFill>
                  <a:srgbClr val="555555"/>
                </a:solidFill>
              </a:rPr>
              <a:t>Dos clusters → dos perfiles diferenciados de política pública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K-Means: dos tipologías municipales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Snapshot 2022 · 1,098 municipios clasificados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means_clusters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400800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E75B6"/>
                </a:solidFill>
              </a:rPr>
              <a:t>Dos perfiles claramente diferenciados: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0" y="201168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457200">
                <a:tc>
                  <a:txBody>
                    <a:bodyPr/>
                    <a:lstStyle/>
                    <a:p/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Cluster 0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Cluster 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555"/>
                          </a:solidFill>
                        </a:rPr>
                        <a:t># municipios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555"/>
                          </a:solidFill>
                        </a:rPr>
                        <a:t>603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555"/>
                          </a:solidFill>
                        </a:rPr>
                        <a:t>495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555"/>
                          </a:solidFill>
                        </a:rPr>
                        <a:t>Puntaje promedio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555"/>
                          </a:solidFill>
                        </a:rPr>
                        <a:t>227.6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555"/>
                          </a:solidFill>
                        </a:rPr>
                        <a:t>251.4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555"/>
                          </a:solidFill>
                        </a:rPr>
                        <a:t>% internet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555"/>
                          </a:solidFill>
                        </a:rPr>
                        <a:t>38.6 %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555"/>
                          </a:solidFill>
                        </a:rPr>
                        <a:t>64.2 %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555"/>
                          </a:solidFill>
                        </a:rPr>
                        <a:t>Idx privación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555"/>
                          </a:solidFill>
                        </a:rPr>
                        <a:t>4.39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555"/>
                          </a:solidFill>
                        </a:rPr>
                        <a:t>3.23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4572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05500"/>
                </a:solidFill>
              </a:rPr>
              <a:t>Cluster 0 = grupo objetivo del plan de acción.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Bono: Red Neuronal MLP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Clasificación a nivel estudiante individual con Spark MLlib distribuido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lp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029200" cy="419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5760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F4E79"/>
                </a:solidFill>
              </a:rPr>
              <a:t xml:space="preserve">•  </a:t>
            </a:r>
            <a:r>
              <a:rPr sz="1400">
                <a:solidFill>
                  <a:srgbClr val="555555"/>
                </a:solidFill>
              </a:rPr>
              <a:t>4,500,067 estudiantes (Silver ICFES)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4E79"/>
                </a:solidFill>
              </a:rPr>
              <a:t xml:space="preserve">•  </a:t>
            </a:r>
            <a:r>
              <a:rPr sz="1400">
                <a:solidFill>
                  <a:srgbClr val="555555"/>
                </a:solidFill>
              </a:rPr>
              <a:t>Arquitectura: [76 → 32 → 3]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4E79"/>
                </a:solidFill>
              </a:rPr>
              <a:t xml:space="preserve">•  </a:t>
            </a:r>
            <a:r>
              <a:rPr sz="1400">
                <a:solidFill>
                  <a:srgbClr val="555555"/>
                </a:solidFill>
              </a:rPr>
              <a:t>Clases: BAJO / MEDIO / ALTO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4E79"/>
                </a:solidFill>
              </a:rPr>
              <a:t xml:space="preserve">•  </a:t>
            </a:r>
            <a:r>
              <a:rPr sz="1400">
                <a:solidFill>
                  <a:srgbClr val="555555"/>
                </a:solidFill>
              </a:rPr>
              <a:t>76 features (categóricas one-hot + binarias)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4E79"/>
                </a:solidFill>
              </a:rPr>
              <a:t xml:space="preserve">•  </a:t>
            </a:r>
            <a:r>
              <a:rPr sz="1400">
                <a:solidFill>
                  <a:srgbClr val="555555"/>
                </a:solidFill>
              </a:rPr>
              <a:t>Entrenamiento distribuido en 4 workers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</a:rPr>
              <a:t>Métricas de TEST (898 K estudiantes)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0" y="4846320"/>
          <a:ext cx="576072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555555"/>
                          </a:solidFill>
                        </a:rPr>
                        <a:t>0.6899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555555"/>
                          </a:solidFill>
                        </a:rPr>
                        <a:t>0.6715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555555"/>
                          </a:solidFill>
                        </a:rPr>
                        <a:t>0.6899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555555"/>
                          </a:solidFill>
                        </a:rPr>
                        <a:t>0.6335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55555"/>
                </a:solidFill>
              </a:rPr>
              <a:t>Limitación: desbalance de clases (66 % MEDIO) → recall bajo en ALTO/BAJO.</a:t>
            </a:r>
          </a:p>
          <a:p>
            <a:r>
              <a:t>Trabajo futuro: SMOTE o reformulación binaria para alerta temprana.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Recomendaciones para el Ministerio de Educación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Plan de acción derivado del análisis cuantitativo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2194560"/>
          </a:xfrm>
          <a:prstGeom prst="roundRect">
            <a:avLst/>
          </a:prstGeom>
          <a:solidFill>
            <a:srgbClr val="E8E8E8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4E79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9163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4E79"/>
                </a:solidFill>
              </a:rPr>
              <a:t>Focalizar inversión en Cluster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240280"/>
            <a:ext cx="45720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55555"/>
                </a:solidFill>
              </a:rPr>
              <a:t>603 municipios con baja conectividad + alta privación.</a:t>
            </a:r>
          </a:p>
          <a:p>
            <a:r>
              <a:t>Intervención integral, no solo digital.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486400" cy="2194560"/>
          </a:xfrm>
          <a:prstGeom prst="roundRect">
            <a:avLst/>
          </a:prstGeom>
          <a:solidFill>
            <a:srgbClr val="E8E8E8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4E79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9" y="169163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4E79"/>
                </a:solidFill>
              </a:rPr>
              <a:t>Conectividad rural de alto nivel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9" y="2240280"/>
            <a:ext cx="45720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55555"/>
                </a:solidFill>
              </a:rPr>
              <a:t>En Q4 de internet, los rurales igualan a los urbanos.</a:t>
            </a:r>
          </a:p>
          <a:p>
            <a:r>
              <a:t>Meta: &gt; 50 % en rurales del Cluster 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5486400" cy="2194560"/>
          </a:xfrm>
          <a:prstGeom prst="roundRect">
            <a:avLst/>
          </a:prstGeom>
          <a:solidFill>
            <a:srgbClr val="E8E8E8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02335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4E79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069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4E79"/>
                </a:solidFill>
              </a:rPr>
              <a:t>Computador + acompañamiento pedagógico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617720"/>
            <a:ext cx="45720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55555"/>
                </a:solidFill>
              </a:rPr>
              <a:t>Efecto positivo comprobado en TODAS las áreas.</a:t>
            </a:r>
          </a:p>
          <a:p>
            <a:r>
              <a:t>Máximo en inglés (+8.3 pts).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486400" cy="2194560"/>
          </a:xfrm>
          <a:prstGeom prst="roundRect">
            <a:avLst/>
          </a:prstGeom>
          <a:solidFill>
            <a:srgbClr val="E8E8E8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02335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4E79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59" y="4069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4E79"/>
                </a:solidFill>
              </a:rPr>
              <a:t>Sistema de alerta temprana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59" y="4617720"/>
            <a:ext cx="45720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55555"/>
                </a:solidFill>
              </a:rPr>
              <a:t>Modelo DT (R²=0.52) + MLP (acc 69 %)</a:t>
            </a:r>
          </a:p>
          <a:p>
            <a:r>
              <a:t>operativizables en un tablero territorial.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1">
                <a:solidFill>
                  <a:srgbClr val="FFFFFF"/>
                </a:solidFill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Grupo REST pAPIs · Entrega 2 · Brecha digital y Saber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github.com/ProcesamientoDatos2610/proyecto2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471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4E79"/>
                </a:solidFill>
              </a:rPr>
              <a:t>Q1: Internet en el hogar y desempeño Saber 11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80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Relación a nivel municipal · 7,001 observaciones</a:t>
            </a:r>
          </a:p>
        </p:txBody>
      </p:sp>
      <p:sp>
        <p:nvSpPr>
          <p:cNvPr id="4" name="AccentBar"/>
          <p:cNvSpPr/>
          <p:nvPr/>
        </p:nvSpPr>
        <p:spPr>
          <a:xfrm>
            <a:off x="457200" y="1240000"/>
            <a:ext cx="1371600" cy="50000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ftCol"/>
          <p:cNvSpPr txBox="1"/>
          <p:nvPr/>
        </p:nvSpPr>
        <p:spPr>
          <a:xfrm>
            <a:off x="457200" y="1360000"/>
            <a:ext cx="54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</a:rPr>
              <a:t>Pregunta</a:t>
            </a:r>
          </a:p>
          <a:p>
            <a:r>
              <a:rPr sz="500"/>
              <a:t xml:space="preserve"> </a:t>
            </a:r>
          </a:p>
          <a:p>
            <a:r>
              <a:rPr sz="1350" b="0" i="0">
                <a:solidFill>
                  <a:srgbClr val="222222"/>
                </a:solidFill>
              </a:rPr>
              <a:t>¿Cuál es la relación entre el acceso a internet en el hogar y el desempeño académico en Saber 11 a nivel municipal?</a:t>
            </a:r>
          </a:p>
          <a:p>
            <a:r>
              <a:rPr sz="600"/>
              <a:t xml:space="preserve"> </a:t>
            </a:r>
          </a:p>
          <a:p>
            <a:r>
              <a:rPr sz="1500" b="1" i="0">
                <a:solidFill>
                  <a:srgbClr val="2E75B6"/>
                </a:solidFill>
              </a:rPr>
              <a:t>Metodología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Correlación de Pearson sobre 7,001 obs. municipio-año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Análisis por cuartil de penetración de internet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Vista minable Gold como única fuente</a:t>
            </a:r>
          </a:p>
        </p:txBody>
      </p:sp>
      <p:sp>
        <p:nvSpPr>
          <p:cNvPr id="6" name="RightCol"/>
          <p:cNvSpPr txBox="1"/>
          <p:nvPr/>
        </p:nvSpPr>
        <p:spPr>
          <a:xfrm>
            <a:off x="6200000" y="1360000"/>
            <a:ext cx="55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 i="0">
                <a:solidFill>
                  <a:srgbClr val="C05500"/>
                </a:solidFill>
              </a:rPr>
              <a:t>r = +0.41</a:t>
            </a:r>
          </a:p>
          <a:p>
            <a:r>
              <a:rPr sz="1300" b="0" i="0">
                <a:solidFill>
                  <a:srgbClr val="555555"/>
                </a:solidFill>
              </a:rPr>
              <a:t>correlación internet ↔ puntaje</a:t>
            </a:r>
          </a:p>
          <a:p>
            <a:r>
              <a:rPr sz="600"/>
              <a:t xml:space="preserve"> </a:t>
            </a:r>
          </a:p>
          <a:p>
            <a:r>
              <a:rPr sz="5200" b="1" i="0">
                <a:solidFill>
                  <a:srgbClr val="C05500"/>
                </a:solidFill>
              </a:rPr>
              <a:t>+19 pts</a:t>
            </a:r>
          </a:p>
          <a:p>
            <a:r>
              <a:rPr sz="1300" b="0" i="0">
                <a:solidFill>
                  <a:srgbClr val="555555"/>
                </a:solidFill>
              </a:rPr>
              <a:t>diferencia Q1 vs Q4 de internet</a:t>
            </a:r>
          </a:p>
          <a:p>
            <a:r>
              <a:rPr sz="600"/>
              <a:t xml:space="preserve"> </a:t>
            </a:r>
          </a:p>
          <a:p>
            <a:r>
              <a:rPr sz="600"/>
              <a:t xml:space="preserve"> </a:t>
            </a:r>
          </a:p>
          <a:p>
            <a:r>
              <a:rPr sz="1350" b="1" i="0">
                <a:solidFill>
                  <a:srgbClr val="1F4E79"/>
                </a:solidFill>
              </a:rPr>
              <a:t>Cuartil de internet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Q1 (bajo): 233.0 pts promedio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Q2: 236.9 pts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Q3: 239.0 pts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Q4 (alto): 252.1 pts</a:t>
            </a:r>
          </a:p>
          <a:p>
            <a:r>
              <a:rPr sz="600"/>
              <a:t xml:space="preserve"> </a:t>
            </a:r>
          </a:p>
          <a:p>
            <a:r>
              <a:rPr sz="1250" b="0" i="1">
                <a:solidFill>
                  <a:srgbClr val="555555"/>
                </a:solidFill>
              </a:rPr>
              <a:t>El salto más pronunciado ocurre entre Q3 y Q4, cuando la penetración supera ~42%.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457200" y="6400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88888"/>
                </a:solidFill>
              </a:rPr>
              <a:t>25	REST pAPIs · Entrega 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471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4E79"/>
                </a:solidFill>
              </a:rPr>
              <a:t>Q2: Brecha rural-urbana y conectividad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80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Puntaje Saber 11 por zona y cuartil de internet</a:t>
            </a:r>
          </a:p>
        </p:txBody>
      </p:sp>
      <p:sp>
        <p:nvSpPr>
          <p:cNvPr id="4" name="AccentBar"/>
          <p:cNvSpPr/>
          <p:nvPr/>
        </p:nvSpPr>
        <p:spPr>
          <a:xfrm>
            <a:off x="457200" y="1240000"/>
            <a:ext cx="1371600" cy="50000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ftCol"/>
          <p:cNvSpPr txBox="1"/>
          <p:nvPr/>
        </p:nvSpPr>
        <p:spPr>
          <a:xfrm>
            <a:off x="457200" y="1360000"/>
            <a:ext cx="54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</a:rPr>
              <a:t>Pregunta</a:t>
            </a:r>
          </a:p>
          <a:p>
            <a:r>
              <a:rPr sz="500"/>
              <a:t xml:space="preserve"> </a:t>
            </a:r>
          </a:p>
          <a:p>
            <a:r>
              <a:rPr sz="1350" b="0" i="0">
                <a:solidFill>
                  <a:srgbClr val="222222"/>
                </a:solidFill>
              </a:rPr>
              <a:t>¿Cómo varía el rendimiento Saber 11 entre zonas rurales y urbanas en función del nivel de conectividad?</a:t>
            </a:r>
          </a:p>
          <a:p>
            <a:r>
              <a:rPr sz="600"/>
              <a:t xml:space="preserve"> </a:t>
            </a:r>
          </a:p>
          <a:p>
            <a:r>
              <a:rPr sz="1500" b="1" i="0">
                <a:solidFill>
                  <a:srgbClr val="2E75B6"/>
                </a:solidFill>
              </a:rPr>
              <a:t>Metodología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Tabla cruzada: zona (rural/urbano) × cuartil de internet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Rural = % colegios rurales ≥ 50%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Análisis de convergencia entre zonas</a:t>
            </a:r>
          </a:p>
        </p:txBody>
      </p:sp>
      <p:sp>
        <p:nvSpPr>
          <p:cNvPr id="6" name="RightCol"/>
          <p:cNvSpPr txBox="1"/>
          <p:nvPr/>
        </p:nvSpPr>
        <p:spPr>
          <a:xfrm>
            <a:off x="6200000" y="1360000"/>
            <a:ext cx="55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1F4E79"/>
                </a:solidFill>
              </a:rPr>
              <a:t>Puntaje promedio por zona y cuartil</a:t>
            </a:r>
          </a:p>
          <a:p>
            <a:r>
              <a:rPr sz="400"/>
              <a:t xml:space="preserve"> </a:t>
            </a:r>
          </a:p>
          <a:p>
            <a:pPr marL="228600" indent="-228600"/>
            <a:r>
              <a:rPr sz="1350" b="0" i="0">
                <a:solidFill>
                  <a:srgbClr val="C05500"/>
                </a:solidFill>
              </a:rPr>
              <a:t>•  Rural Q1: 227.8 → Q4: 257.6</a:t>
            </a:r>
          </a:p>
          <a:p>
            <a:pPr marL="228600" indent="-228600"/>
            <a:r>
              <a:rPr sz="1350" b="0" i="0">
                <a:solidFill>
                  <a:srgbClr val="2E75B6"/>
                </a:solidFill>
              </a:rPr>
              <a:t>•  Urbano Q1: 235.3 → Q4: 251.2</a:t>
            </a:r>
          </a:p>
          <a:p>
            <a:r>
              <a:rPr sz="600"/>
              <a:t xml:space="preserve"> </a:t>
            </a:r>
          </a:p>
          <a:p>
            <a:r>
              <a:rPr sz="1400" b="1" i="0">
                <a:solidFill>
                  <a:srgbClr val="C05500"/>
                </a:solidFill>
              </a:rPr>
              <a:t>Hallazgo clave</a:t>
            </a:r>
          </a:p>
          <a:p>
            <a:r>
              <a:rPr sz="1300" b="0" i="0">
                <a:solidFill>
                  <a:srgbClr val="333333"/>
                </a:solidFill>
              </a:rPr>
              <a:t>En Q4 de conectividad, los municipios rurales (257.6) superan a los urbanos del mismo cuartil (251.2). La brecha rural-urbana puede cerrarse con conectividad de alto nivel.</a:t>
            </a:r>
          </a:p>
          <a:p>
            <a:r>
              <a:rPr sz="600"/>
              <a:t xml:space="preserve"> </a:t>
            </a:r>
          </a:p>
          <a:p>
            <a:r>
              <a:rPr sz="1250" b="0" i="1">
                <a:solidFill>
                  <a:srgbClr val="555555"/>
                </a:solidFill>
              </a:rPr>
              <a:t>Invertir en conectividad rural tiene retorno académico comprobable.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457200" y="6400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88888"/>
                </a:solidFill>
              </a:rPr>
              <a:t>26	REST pAPIs · Entrega 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471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4E79"/>
                </a:solidFill>
              </a:rPr>
              <a:t>Q3: Pobreza multidimensional y rendimiento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80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Efecto de la privación controlando por nivel de internet</a:t>
            </a:r>
          </a:p>
        </p:txBody>
      </p:sp>
      <p:sp>
        <p:nvSpPr>
          <p:cNvPr id="4" name="AccentBar"/>
          <p:cNvSpPr/>
          <p:nvPr/>
        </p:nvSpPr>
        <p:spPr>
          <a:xfrm>
            <a:off x="457200" y="1240000"/>
            <a:ext cx="1371600" cy="50000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ftCol"/>
          <p:cNvSpPr txBox="1"/>
          <p:nvPr/>
        </p:nvSpPr>
        <p:spPr>
          <a:xfrm>
            <a:off x="457200" y="1360000"/>
            <a:ext cx="54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</a:rPr>
              <a:t>Pregunta</a:t>
            </a:r>
          </a:p>
          <a:p>
            <a:r>
              <a:rPr sz="500"/>
              <a:t xml:space="preserve"> </a:t>
            </a:r>
          </a:p>
          <a:p>
            <a:r>
              <a:rPr sz="1350" b="0" i="0">
                <a:solidFill>
                  <a:srgbClr val="222222"/>
                </a:solidFill>
              </a:rPr>
              <a:t>¿En qué medida la pobreza multidimensional incide en los resultados académicos, incluso en territorios con niveles similares de acceso a internet?</a:t>
            </a:r>
          </a:p>
          <a:p>
            <a:r>
              <a:rPr sz="600"/>
              <a:t xml:space="preserve"> </a:t>
            </a:r>
          </a:p>
          <a:p>
            <a:r>
              <a:rPr sz="1500" b="1" i="0">
                <a:solidFill>
                  <a:srgbClr val="2E75B6"/>
                </a:solidFill>
              </a:rPr>
              <a:t>Metodología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Estratificación por cuartil de internet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Correlación índice de privación Sisbén vs. puntaje dentro de cada estrato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Comparación con correlación global</a:t>
            </a:r>
          </a:p>
        </p:txBody>
      </p:sp>
      <p:sp>
        <p:nvSpPr>
          <p:cNvPr id="6" name="RightCol"/>
          <p:cNvSpPr txBox="1"/>
          <p:nvPr/>
        </p:nvSpPr>
        <p:spPr>
          <a:xfrm>
            <a:off x="6200000" y="1360000"/>
            <a:ext cx="55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1F4E79"/>
                </a:solidFill>
              </a:rPr>
              <a:t>Correlación (privación, puntaje) por cuartil de internet</a:t>
            </a:r>
          </a:p>
          <a:p>
            <a:r>
              <a:rPr sz="400"/>
              <a:t xml:space="preserve"> 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Q1 (bajo): -0.461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Q2: -0.510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Q3: -0.521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Q4 (alto): -0.404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Sin controlar: -0.520</a:t>
            </a:r>
          </a:p>
          <a:p>
            <a:r>
              <a:rPr sz="600"/>
              <a:t xml:space="preserve"> </a:t>
            </a:r>
          </a:p>
          <a:p>
            <a:r>
              <a:rPr sz="1400" b="1" i="0">
                <a:solidFill>
                  <a:srgbClr val="C05500"/>
                </a:solidFill>
              </a:rPr>
              <a:t>Conclusión</a:t>
            </a:r>
          </a:p>
          <a:p>
            <a:r>
              <a:rPr sz="1300" b="0" i="0">
                <a:solidFill>
                  <a:srgbClr val="333333"/>
                </a:solidFill>
              </a:rPr>
              <a:t>La correlación negativa es significativa en los 4 estratos. La conectividad NO sustituye las políticas sociales: es un complemento.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457200" y="6400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88888"/>
                </a:solidFill>
              </a:rPr>
              <a:t>27	REST pAPIs · Entrega 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471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4E79"/>
                </a:solidFill>
              </a:rPr>
              <a:t>Q4: Alta vs. baja penetración de internet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80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Comparativa directa entre los extremos de conectividad</a:t>
            </a:r>
          </a:p>
        </p:txBody>
      </p:sp>
      <p:sp>
        <p:nvSpPr>
          <p:cNvPr id="4" name="AccentBar"/>
          <p:cNvSpPr/>
          <p:nvPr/>
        </p:nvSpPr>
        <p:spPr>
          <a:xfrm>
            <a:off x="457200" y="1240000"/>
            <a:ext cx="1371600" cy="50000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ftCol"/>
          <p:cNvSpPr txBox="1"/>
          <p:nvPr/>
        </p:nvSpPr>
        <p:spPr>
          <a:xfrm>
            <a:off x="457200" y="1360000"/>
            <a:ext cx="54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</a:rPr>
              <a:t>Pregunta</a:t>
            </a:r>
          </a:p>
          <a:p>
            <a:r>
              <a:rPr sz="500"/>
              <a:t xml:space="preserve"> </a:t>
            </a:r>
          </a:p>
          <a:p>
            <a:r>
              <a:rPr sz="1350" b="0" i="0">
                <a:solidFill>
                  <a:srgbClr val="222222"/>
                </a:solidFill>
              </a:rPr>
              <a:t>¿Qué diferencias en el desempeño académico se observan entre municipios con alta y baja penetración del servicio de internet?</a:t>
            </a:r>
          </a:p>
          <a:p>
            <a:r>
              <a:rPr sz="600"/>
              <a:t xml:space="preserve"> </a:t>
            </a:r>
          </a:p>
          <a:p>
            <a:r>
              <a:rPr sz="1500" b="1" i="0">
                <a:solidFill>
                  <a:srgbClr val="2E75B6"/>
                </a:solidFill>
              </a:rPr>
              <a:t>Metodología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Grupo ALTA: percentil 80+ de penetración (&gt;62.4%)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Grupo BAJA: percentil 20- de penetración (&lt;9.9%)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Comparativa de puntaje e índice de privación</a:t>
            </a:r>
          </a:p>
        </p:txBody>
      </p:sp>
      <p:sp>
        <p:nvSpPr>
          <p:cNvPr id="6" name="RightCol"/>
          <p:cNvSpPr txBox="1"/>
          <p:nvPr/>
        </p:nvSpPr>
        <p:spPr>
          <a:xfrm>
            <a:off x="6200000" y="1360000"/>
            <a:ext cx="55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 i="0">
                <a:solidFill>
                  <a:srgbClr val="C05500"/>
                </a:solidFill>
              </a:rPr>
              <a:t>+22.1 pts</a:t>
            </a:r>
          </a:p>
          <a:p>
            <a:r>
              <a:rPr sz="1300" b="0" i="0">
                <a:solidFill>
                  <a:srgbClr val="555555"/>
                </a:solidFill>
              </a:rPr>
              <a:t>diferencia ALTA vs BAJA conectividad</a:t>
            </a:r>
          </a:p>
          <a:p>
            <a:r>
              <a:rPr sz="600"/>
              <a:t xml:space="preserve"> </a:t>
            </a:r>
          </a:p>
          <a:p>
            <a:r>
              <a:rPr sz="300"/>
              <a:t xml:space="preserve"> </a:t>
            </a:r>
          </a:p>
          <a:p>
            <a:r>
              <a:rPr sz="1350" b="1" i="0">
                <a:solidFill>
                  <a:srgbClr val="1F4E79"/>
                </a:solidFill>
              </a:rPr>
              <a:t>Comparativa directa</a:t>
            </a:r>
          </a:p>
          <a:p>
            <a:r>
              <a:rPr sz="400"/>
              <a:t xml:space="preserve"> 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Alta: puntaje 250.4 | penetración 68.1% | privación 3.06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Baja: puntaje 228.3 | penetración 9.9% | privación 4.92</a:t>
            </a:r>
          </a:p>
          <a:p>
            <a:r>
              <a:rPr sz="600"/>
              <a:t xml:space="preserve"> </a:t>
            </a:r>
          </a:p>
          <a:p>
            <a:r>
              <a:rPr sz="1250" b="0" i="1">
                <a:solidFill>
                  <a:srgbClr val="555555"/>
                </a:solidFill>
              </a:rPr>
              <a:t>Alta conectividad y baja privación coexisten en los municipios más exitosos académicamente.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457200" y="6400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88888"/>
                </a:solidFill>
              </a:rPr>
              <a:t>28	REST pAPIs · Entrega 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471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4E79"/>
                </a:solidFill>
              </a:rPr>
              <a:t>Q5: Variables con mayor capacidad explicativa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80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Ranking de correlación con el puntaje global municipal</a:t>
            </a:r>
          </a:p>
        </p:txBody>
      </p:sp>
      <p:sp>
        <p:nvSpPr>
          <p:cNvPr id="4" name="AccentBar"/>
          <p:cNvSpPr/>
          <p:nvPr/>
        </p:nvSpPr>
        <p:spPr>
          <a:xfrm>
            <a:off x="457200" y="1240000"/>
            <a:ext cx="1371600" cy="50000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ftCol"/>
          <p:cNvSpPr txBox="1"/>
          <p:nvPr/>
        </p:nvSpPr>
        <p:spPr>
          <a:xfrm>
            <a:off x="457200" y="1360000"/>
            <a:ext cx="54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</a:rPr>
              <a:t>Pregunta</a:t>
            </a:r>
          </a:p>
          <a:p>
            <a:r>
              <a:rPr sz="500"/>
              <a:t xml:space="preserve"> </a:t>
            </a:r>
          </a:p>
          <a:p>
            <a:r>
              <a:rPr sz="1350" b="0" i="0">
                <a:solidFill>
                  <a:srgbClr val="222222"/>
                </a:solidFill>
              </a:rPr>
              <a:t>¿Qué variables socioeconómicas presentan mayor capacidad explicativa del desempeño en Saber 11 en comparación con el acceso a internet?</a:t>
            </a:r>
          </a:p>
          <a:p>
            <a:r>
              <a:rPr sz="600"/>
              <a:t xml:space="preserve"> </a:t>
            </a:r>
          </a:p>
          <a:p>
            <a:r>
              <a:rPr sz="1500" b="1" i="0">
                <a:solidFill>
                  <a:srgbClr val="2E75B6"/>
                </a:solidFill>
              </a:rPr>
              <a:t>Metodología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Correlación de Pearson de cada feature vs. puntaje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Ranking por valor absoluto de correlación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12 variables de 4 dimensiones: conectividad, pobreza, educación, demografía</a:t>
            </a:r>
          </a:p>
        </p:txBody>
      </p:sp>
      <p:sp>
        <p:nvSpPr>
          <p:cNvPr id="6" name="RightCol"/>
          <p:cNvSpPr txBox="1"/>
          <p:nvPr/>
        </p:nvSpPr>
        <p:spPr>
          <a:xfrm>
            <a:off x="6200000" y="1360000"/>
            <a:ext cx="55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1F4E79"/>
                </a:solidFill>
              </a:rPr>
              <a:t>Ranking de correlación (top 5)</a:t>
            </a:r>
          </a:p>
          <a:p>
            <a:r>
              <a:rPr sz="400"/>
              <a:t xml:space="preserve"> </a:t>
            </a:r>
          </a:p>
          <a:p>
            <a:pPr marL="228600" indent="-228600"/>
            <a:r>
              <a:rPr sz="1350" b="0" i="0">
                <a:solidFill>
                  <a:srgbClr val="2E7530"/>
                </a:solidFill>
              </a:rPr>
              <a:t>•  pct_grupo_D (Sisbén): +0.424</a:t>
            </a:r>
          </a:p>
          <a:p>
            <a:pPr marL="228600" indent="-228600"/>
            <a:r>
              <a:rPr sz="1350" b="0" i="0">
                <a:solidFill>
                  <a:srgbClr val="2E75B6"/>
                </a:solidFill>
              </a:rPr>
              <a:t>•  pct_internet_icfes: +0.409</a:t>
            </a:r>
          </a:p>
          <a:p>
            <a:pPr marL="228600" indent="-228600"/>
            <a:r>
              <a:rPr sz="1350" b="0" i="0">
                <a:solidFill>
                  <a:srgbClr val="C05500"/>
                </a:solidFill>
              </a:rPr>
              <a:t>•  idx_privacion: -0.378</a:t>
            </a:r>
          </a:p>
          <a:p>
            <a:pPr marL="228600" indent="-228600"/>
            <a:r>
              <a:rPr sz="1350" b="0" i="0">
                <a:solidFill>
                  <a:srgbClr val="C05500"/>
                </a:solidFill>
              </a:rPr>
              <a:t>•  pct_grupo_A: -0.343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pct_rural_colegio: -0.175</a:t>
            </a:r>
          </a:p>
          <a:p>
            <a:r>
              <a:rPr sz="600"/>
              <a:t xml:space="preserve"> </a:t>
            </a:r>
          </a:p>
          <a:p>
            <a:r>
              <a:rPr sz="1400" b="1" i="0">
                <a:solidFill>
                  <a:srgbClr val="C05500"/>
                </a:solidFill>
              </a:rPr>
              <a:t>Conclusión</a:t>
            </a:r>
          </a:p>
          <a:p>
            <a:r>
              <a:rPr sz="1300" b="0" i="0">
                <a:solidFill>
                  <a:srgbClr val="333333"/>
                </a:solidFill>
              </a:rPr>
              <a:t>El peso socioeconómico (Sisbén grupo D) compite con la conectividad como variable explicativa. La política pública debe actuar en ambas dimensiones.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457200" y="6400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88888"/>
                </a:solidFill>
              </a:rPr>
              <a:t>29	REST pAPIs · Entrega 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471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4E79"/>
                </a:solidFill>
              </a:rPr>
              <a:t>Q6: Cobertura educativa y conectividad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80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Relación entre matrícula y acceso digital</a:t>
            </a:r>
          </a:p>
        </p:txBody>
      </p:sp>
      <p:sp>
        <p:nvSpPr>
          <p:cNvPr id="4" name="AccentBar"/>
          <p:cNvSpPr/>
          <p:nvPr/>
        </p:nvSpPr>
        <p:spPr>
          <a:xfrm>
            <a:off x="457200" y="1240000"/>
            <a:ext cx="1371600" cy="50000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ftCol"/>
          <p:cNvSpPr txBox="1"/>
          <p:nvPr/>
        </p:nvSpPr>
        <p:spPr>
          <a:xfrm>
            <a:off x="457200" y="1360000"/>
            <a:ext cx="54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</a:rPr>
              <a:t>Pregunta</a:t>
            </a:r>
          </a:p>
          <a:p>
            <a:r>
              <a:rPr sz="500"/>
              <a:t xml:space="preserve"> </a:t>
            </a:r>
          </a:p>
          <a:p>
            <a:r>
              <a:rPr sz="1350" b="0" i="0">
                <a:solidFill>
                  <a:srgbClr val="222222"/>
                </a:solidFill>
              </a:rPr>
              <a:t>¿Cuál es la relación entre la cobertura educativa (matrícula y asistencia) y el nivel de conectividad digital en los municipios analizados?</a:t>
            </a:r>
          </a:p>
          <a:p>
            <a:r>
              <a:rPr sz="600"/>
              <a:t xml:space="preserve"> </a:t>
            </a:r>
          </a:p>
          <a:p>
            <a:r>
              <a:rPr sz="1500" b="1" i="0">
                <a:solidFill>
                  <a:srgbClr val="2E75B6"/>
                </a:solidFill>
              </a:rPr>
              <a:t>Metodología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Correlación cobertura neta MEN vs. penetración de internet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Análisis por cuartil de cobertura neta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Evaluación de rendimientos decrecientes</a:t>
            </a:r>
          </a:p>
        </p:txBody>
      </p:sp>
      <p:sp>
        <p:nvSpPr>
          <p:cNvPr id="6" name="RightCol"/>
          <p:cNvSpPr txBox="1"/>
          <p:nvPr/>
        </p:nvSpPr>
        <p:spPr>
          <a:xfrm>
            <a:off x="6200000" y="1360000"/>
            <a:ext cx="55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1F4E79"/>
                </a:solidFill>
              </a:rPr>
              <a:t>Correlaciones</a:t>
            </a:r>
          </a:p>
          <a:p>
            <a:r>
              <a:rPr sz="400"/>
              <a:t xml:space="preserve"> 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Cobertura neta ↔ internet: r = +0.24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Matrícula 5-16 ↔ internet: r = +0.26</a:t>
            </a:r>
          </a:p>
          <a:p>
            <a:r>
              <a:rPr sz="600"/>
              <a:t xml:space="preserve"> </a:t>
            </a:r>
          </a:p>
          <a:p>
            <a:r>
              <a:rPr sz="1350" b="1" i="0">
                <a:solidFill>
                  <a:srgbClr val="1F4E79"/>
                </a:solidFill>
              </a:rPr>
              <a:t>Puntaje por cuartil de cobertura neta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Q1: 237.0 pts | Q2: 240.6 pts | Q3: 243.5 pts | Q4: 240.9 pts</a:t>
            </a:r>
          </a:p>
          <a:p>
            <a:r>
              <a:rPr sz="600"/>
              <a:t xml:space="preserve"> </a:t>
            </a:r>
          </a:p>
          <a:p>
            <a:r>
              <a:rPr sz="1300" b="0" i="0">
                <a:solidFill>
                  <a:srgbClr val="333333"/>
                </a:solidFill>
              </a:rPr>
              <a:t>El patrón es ascendente hasta Q3 y se aplana en Q4, lo que sugiere rendimientos decrecientes: más cobertura sin conectividad adicional no mejora automáticamente el puntaje.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457200" y="6400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88888"/>
                </a:solidFill>
              </a:rPr>
              <a:t>30	REST pAPIs · Entrega 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471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4E79"/>
                </a:solidFill>
              </a:rPr>
              <a:t>Q7: Computador en casa y puntaje por área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80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Análisis a nivel estudiante · 4.5M registros</a:t>
            </a:r>
          </a:p>
        </p:txBody>
      </p:sp>
      <p:sp>
        <p:nvSpPr>
          <p:cNvPr id="4" name="AccentBar"/>
          <p:cNvSpPr/>
          <p:nvPr/>
        </p:nvSpPr>
        <p:spPr>
          <a:xfrm>
            <a:off x="457200" y="1240000"/>
            <a:ext cx="1371600" cy="50000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ftCol"/>
          <p:cNvSpPr txBox="1"/>
          <p:nvPr/>
        </p:nvSpPr>
        <p:spPr>
          <a:xfrm>
            <a:off x="457200" y="1360000"/>
            <a:ext cx="54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</a:rPr>
              <a:t>Pregunta</a:t>
            </a:r>
          </a:p>
          <a:p>
            <a:r>
              <a:rPr sz="500"/>
              <a:t xml:space="preserve"> </a:t>
            </a:r>
          </a:p>
          <a:p>
            <a:r>
              <a:rPr sz="1350" b="0" i="0">
                <a:solidFill>
                  <a:srgbClr val="222222"/>
                </a:solidFill>
              </a:rPr>
              <a:t>¿Cómo influye el acceso a computador en el hogar en los resultados por área evaluada en Saber 11?</a:t>
            </a:r>
          </a:p>
          <a:p>
            <a:r>
              <a:rPr sz="600"/>
              <a:t xml:space="preserve"> </a:t>
            </a:r>
          </a:p>
          <a:p>
            <a:r>
              <a:rPr sz="1500" b="1" i="0">
                <a:solidFill>
                  <a:srgbClr val="2E75B6"/>
                </a:solidFill>
              </a:rPr>
              <a:t>Metodología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Análisis a nivel estudiante (4,500,067 registros)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Puntaje promedio por área: con vs. sin computador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Variable TIENE_COMPUTADOR_BIN</a:t>
            </a:r>
          </a:p>
          <a:p>
            <a:r>
              <a:rPr sz="600"/>
              <a:t xml:space="preserve"> </a:t>
            </a:r>
          </a:p>
          <a:p>
            <a:r>
              <a:rPr sz="1350" b="1" i="0">
                <a:solidFill>
                  <a:srgbClr val="1F4E79"/>
                </a:solidFill>
              </a:rPr>
              <a:t>57.1% de estudiantes tienen computador en casa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Con: 2,569,388 estudiantes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Sin: 1,930,679 estudiantes</a:t>
            </a:r>
          </a:p>
        </p:txBody>
      </p:sp>
      <p:sp>
        <p:nvSpPr>
          <p:cNvPr id="6" name="RightCol"/>
          <p:cNvSpPr txBox="1"/>
          <p:nvPr/>
        </p:nvSpPr>
        <p:spPr>
          <a:xfrm>
            <a:off x="6200000" y="1360000"/>
            <a:ext cx="55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1F4E79"/>
                </a:solidFill>
              </a:rPr>
              <a:t>Diferencia por área (con vs. sin computador)</a:t>
            </a:r>
          </a:p>
          <a:p>
            <a:r>
              <a:rPr sz="400"/>
              <a:t xml:space="preserve"> </a:t>
            </a:r>
          </a:p>
          <a:p>
            <a:pPr marL="228600" indent="-228600"/>
            <a:r>
              <a:rPr sz="1350" b="0" i="0">
                <a:solidFill>
                  <a:srgbClr val="C05500"/>
                </a:solidFill>
              </a:rPr>
              <a:t>•  Inglés: +8.3 pts</a:t>
            </a:r>
          </a:p>
          <a:p>
            <a:pPr marL="228600" indent="-228600"/>
            <a:r>
              <a:rPr sz="1350" b="0" i="0">
                <a:solidFill>
                  <a:srgbClr val="C05500"/>
                </a:solidFill>
              </a:rPr>
              <a:t>•  Matemáticas: +6.5 pts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Sociales y ciudadanas: +6.4 pts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Ciencias naturales: +5.9 pts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Lectura crítica: +5.7 pts</a:t>
            </a:r>
          </a:p>
          <a:p>
            <a:r>
              <a:rPr sz="600"/>
              <a:t xml:space="preserve"> </a:t>
            </a:r>
          </a:p>
          <a:p>
            <a:r>
              <a:rPr sz="1280" b="0" i="1">
                <a:solidFill>
                  <a:srgbClr val="555555"/>
                </a:solidFill>
              </a:rPr>
              <a:t>El efecto es positivo en TODAS las áreas, sin excepción. El mayor impacto en Inglés sugiere que el computador habilita práctica autónoma con recursos digitales especializados.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457200" y="6400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88888"/>
                </a:solidFill>
              </a:rPr>
              <a:t>31	REST pAPIs · Entrega 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471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4E79"/>
                </a:solidFill>
              </a:rPr>
              <a:t>Q8: Municipios anómalos: alta conectividad, bajo puntaje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80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Detección de casos atípicos en 2022</a:t>
            </a:r>
          </a:p>
        </p:txBody>
      </p:sp>
      <p:sp>
        <p:nvSpPr>
          <p:cNvPr id="4" name="AccentBar"/>
          <p:cNvSpPr/>
          <p:nvPr/>
        </p:nvSpPr>
        <p:spPr>
          <a:xfrm>
            <a:off x="457200" y="1240000"/>
            <a:ext cx="1371600" cy="50000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ftCol"/>
          <p:cNvSpPr txBox="1"/>
          <p:nvPr/>
        </p:nvSpPr>
        <p:spPr>
          <a:xfrm>
            <a:off x="457200" y="1360000"/>
            <a:ext cx="54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</a:rPr>
              <a:t>Pregunta</a:t>
            </a:r>
          </a:p>
          <a:p>
            <a:r>
              <a:rPr sz="500"/>
              <a:t xml:space="preserve"> </a:t>
            </a:r>
          </a:p>
          <a:p>
            <a:r>
              <a:rPr sz="1350" b="0" i="0">
                <a:solidFill>
                  <a:srgbClr val="222222"/>
                </a:solidFill>
              </a:rPr>
              <a:t>¿Qué municipios presentan alta conectividad pero bajos resultados académicos, y qué patrones pueden identificarse?</a:t>
            </a:r>
          </a:p>
          <a:p>
            <a:r>
              <a:rPr sz="600"/>
              <a:t xml:space="preserve"> </a:t>
            </a:r>
          </a:p>
          <a:p>
            <a:r>
              <a:rPr sz="1500" b="1" i="0">
                <a:solidFill>
                  <a:srgbClr val="2E75B6"/>
                </a:solidFill>
              </a:rPr>
              <a:t>Criterio de detección (año 2022)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Penetración ≥ percentil 75 (&gt; 62.4% de hogares con internet)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Puntaje ≤ percentil 25 (&lt; 223.9 puntos)</a:t>
            </a:r>
          </a:p>
          <a:p>
            <a:r>
              <a:rPr sz="600"/>
              <a:t xml:space="preserve"> </a:t>
            </a:r>
          </a:p>
          <a:p>
            <a:r>
              <a:rPr sz="5200" b="1" i="0">
                <a:solidFill>
                  <a:srgbClr val="C05500"/>
                </a:solidFill>
              </a:rPr>
              <a:t>10</a:t>
            </a:r>
          </a:p>
          <a:p>
            <a:r>
              <a:rPr sz="1300" b="0" i="0">
                <a:solidFill>
                  <a:srgbClr val="555555"/>
                </a:solidFill>
              </a:rPr>
              <a:t>municipios anómalos detectados</a:t>
            </a:r>
          </a:p>
          <a:p>
            <a:r>
              <a:rPr sz="600"/>
              <a:t xml:space="preserve"> </a:t>
            </a:r>
          </a:p>
          <a:p>
            <a:r>
              <a:rPr sz="1300" b="0" i="0">
                <a:solidFill>
                  <a:srgbClr val="555555"/>
                </a:solidFill>
              </a:rPr>
              <a:t>5 de 10 en Antioquia, otros en Cauca, Tolima, Bolívar, Huila y Chocó.</a:t>
            </a:r>
          </a:p>
        </p:txBody>
      </p:sp>
      <p:sp>
        <p:nvSpPr>
          <p:cNvPr id="6" name="RightCol"/>
          <p:cNvSpPr txBox="1"/>
          <p:nvPr/>
        </p:nvSpPr>
        <p:spPr>
          <a:xfrm>
            <a:off x="6200000" y="1360000"/>
            <a:ext cx="55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1F4E79"/>
                </a:solidFill>
              </a:rPr>
              <a:t>Perfil del grupo anómalo</a:t>
            </a:r>
          </a:p>
          <a:p>
            <a:r>
              <a:rPr sz="400"/>
              <a:t xml:space="preserve"> 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Conectividad promedio: 68.5% (vs 50.0% del resto)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Puntaje promedio: 216.2 (vs 238.6 del resto)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Índice de privación similar: 3.83 vs 3.87</a:t>
            </a:r>
          </a:p>
          <a:p>
            <a:pPr marL="228600" indent="-228600"/>
            <a:r>
              <a:rPr sz="1350" b="0" i="0">
                <a:solidFill>
                  <a:srgbClr val="444444"/>
                </a:solidFill>
              </a:rPr>
              <a:t>•  Deserción: 5.1% (vs 4.1% del resto)</a:t>
            </a:r>
          </a:p>
          <a:p>
            <a:r>
              <a:rPr sz="600"/>
              <a:t xml:space="preserve"> </a:t>
            </a:r>
          </a:p>
          <a:p>
            <a:r>
              <a:rPr sz="1400" b="1" i="0">
                <a:solidFill>
                  <a:srgbClr val="C05500"/>
                </a:solidFill>
              </a:rPr>
              <a:t>Conclusión</a:t>
            </a:r>
          </a:p>
          <a:p>
            <a:r>
              <a:rPr sz="1300" b="0" i="0">
                <a:solidFill>
                  <a:srgbClr val="333333"/>
                </a:solidFill>
              </a:rPr>
              <a:t>La brecha no se explica por pobreza: la infraestructura digital por sí sola no garantiza buenos resultados cuando no hay un ecosistema educativo y socioeconómico funcional.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457200" y="6400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88888"/>
                </a:solidFill>
              </a:rPr>
              <a:t>32	REST pAPIs · Entrega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